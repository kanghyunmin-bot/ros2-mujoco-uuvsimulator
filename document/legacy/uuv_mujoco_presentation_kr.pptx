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583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300" b="1" i="0">
                <a:solidFill>
                  <a:srgbClr val="181F26"/>
                </a:solidFill>
                <a:latin typeface="Apple SD Gothic Neo"/>
              </a:rPr>
              <a:t>MuJoCo 기반 UUV 시뮬레이터</a:t>
            </a:r>
            <a:endParaRPr sz="2300" b="1" i="0">
              <a:latin typeface="Apple SD Gothic Ne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 i="0">
                <a:solidFill>
                  <a:srgbClr val="596572"/>
                </a:solidFill>
                <a:latin typeface="Apple SD Gothic Neo"/>
              </a:rPr>
              <a:t>실시간 제어 스택 연동과 수중 물리 고도화</a:t>
            </a:r>
            <a:endParaRPr sz="1000" b="0" i="0">
              <a:latin typeface="Apple SD Gothic Neo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58368" y="1234440"/>
            <a:ext cx="5760720" cy="443484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35024"/>
            <a:ext cx="54315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F567A"/>
                </a:solidFill>
                <a:latin typeface="Apple SD Gothic Neo"/>
              </a:rPr>
              <a:t>문제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64208"/>
            <a:ext cx="5303520" cy="3611880"/>
          </a:xfrm>
          <a:prstGeom prst="rect">
            <a:avLst/>
          </a:prstGeom>
          <a:noFill/>
        </p:spPr>
        <p:txBody>
          <a:bodyPr wrap="square" lIns="76200" rIns="76200" tIns="50800" bIns="25400" anchor="t">
            <a:no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 i="0">
                <a:solidFill>
                  <a:srgbClr val="181F26"/>
                </a:solidFill>
                <a:latin typeface="Apple SD Gothic Neo"/>
              </a:rPr>
              <a:t>• ArduSub/ROS2 제어 스택과 연결되는 실시간 UUV 시뮬레이터가 필요함</a:t>
            </a:r>
            <a:endParaRPr sz="1700" b="0" i="0">
              <a:latin typeface="Apple SD Gothic Neo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 i="0">
                <a:solidFill>
                  <a:srgbClr val="181F26"/>
                </a:solidFill>
                <a:latin typeface="Apple SD Gothic Neo"/>
              </a:rPr>
              <a:t>• 기존 단순 모델은 부력, 선형 drag, 단순 thrust 위주라 실제 수중 응답과 차이가 큼</a:t>
            </a:r>
            <a:endParaRPr sz="1700" b="0" i="0">
              <a:latin typeface="Apple SD Gothic Neo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 i="0">
                <a:solidFill>
                  <a:srgbClr val="181F26"/>
                </a:solidFill>
                <a:latin typeface="Apple SD Gothic Neo"/>
              </a:rPr>
              <a:t>• 핵심 목표는 엔진 비교가 아니라 수중 물리 항을 직접 설계하고 제어 응답까지 검증하는 환경을 만드는 것</a:t>
            </a:r>
            <a:endParaRPr sz="1700" b="0" i="0">
              <a:latin typeface="Apple SD Gothic Neo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629400" y="1234440"/>
            <a:ext cx="4892040" cy="443484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93992" y="1335024"/>
            <a:ext cx="45628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F567A"/>
                </a:solidFill>
                <a:latin typeface="Apple SD Gothic Neo"/>
              </a:rPr>
              <a:t>핵심 키워드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1783080"/>
            <a:ext cx="4297680" cy="3383280"/>
          </a:xfrm>
          <a:prstGeom prst="rect">
            <a:avLst/>
          </a:prstGeom>
          <a:noFill/>
        </p:spPr>
        <p:txBody>
          <a:bodyPr wrap="square" lIns="50800" rIns="50800" tIns="38100" bIns="25400">
            <a:no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81F26"/>
                </a:solidFill>
                <a:latin typeface="Apple SD Gothic Neo"/>
              </a:rPr>
              <a:t>Real-time UUV simulation</a:t>
            </a:r>
            <a:endParaRPr sz="1800" b="0" i="0">
              <a:latin typeface="Apple SD Gothic Neo"/>
            </a:endParaRP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81F26"/>
                </a:solidFill>
                <a:latin typeface="Apple SD Gothic Neo"/>
              </a:rPr>
              <a:t/>
            </a:r>
            <a:endParaRPr sz="1800" b="0" i="0">
              <a:latin typeface="Apple SD Gothic Neo"/>
            </a:endParaRP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81F26"/>
                </a:solidFill>
                <a:latin typeface="Apple SD Gothic Neo"/>
              </a:rPr>
              <a:t>MuJoCo + custom hydrodynamics</a:t>
            </a:r>
            <a:endParaRPr sz="1800" b="0" i="0">
              <a:latin typeface="Apple SD Gothic Neo"/>
            </a:endParaRP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81F26"/>
                </a:solidFill>
                <a:latin typeface="Apple SD Gothic Neo"/>
              </a:rPr>
              <a:t/>
            </a:r>
            <a:endParaRPr sz="1800" b="0" i="0">
              <a:latin typeface="Apple SD Gothic Neo"/>
            </a:endParaRP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81F26"/>
                </a:solidFill>
                <a:latin typeface="Apple SD Gothic Neo"/>
              </a:rPr>
              <a:t>ArduSub SITL / ROS2 integration</a:t>
            </a:r>
            <a:endParaRPr sz="1800" b="0" i="0">
              <a:latin typeface="Apple SD Gothic Neo"/>
            </a:endParaRP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81F26"/>
                </a:solidFill>
                <a:latin typeface="Apple SD Gothic Neo"/>
              </a:rPr>
              <a:t/>
            </a:r>
            <a:endParaRPr sz="1800" b="0" i="0">
              <a:latin typeface="Apple SD Gothic Neo"/>
            </a:endParaRP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81F26"/>
                </a:solidFill>
                <a:latin typeface="Apple SD Gothic Neo"/>
              </a:rPr>
              <a:t>Joystick / GUI / RC override</a:t>
            </a:r>
            <a:endParaRPr sz="1800" b="0" i="0">
              <a:latin typeface="Apple SD Gothic Ne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6437376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96572"/>
                </a:solidFill>
                <a:latin typeface="Apple SD Gothic Neo"/>
              </a:rPr>
              <a:t>Slide 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583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300" b="1" i="0">
                <a:solidFill>
                  <a:srgbClr val="181F26"/>
                </a:solidFill>
                <a:latin typeface="Apple SD Gothic Neo"/>
              </a:rPr>
              <a:t>원래 방식과 현재 커스텀 방식</a:t>
            </a:r>
            <a:endParaRPr sz="2300" b="1" i="0">
              <a:latin typeface="Apple SD Gothic Ne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 i="0">
                <a:solidFill>
                  <a:srgbClr val="596572"/>
                </a:solidFill>
                <a:latin typeface="Apple SD Gothic Neo"/>
              </a:rPr>
              <a:t>기성 fluid model / plugin 사용과 현재 runtime 구조의 차이</a:t>
            </a:r>
            <a:endParaRPr sz="1000" b="0" i="0">
              <a:latin typeface="Apple SD Gothic Neo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58368" y="1234440"/>
            <a:ext cx="5074920" cy="224028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35024"/>
            <a:ext cx="47457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F567A"/>
                </a:solidFill>
                <a:latin typeface="Apple SD Gothic Neo"/>
              </a:rPr>
              <a:t>원래는 어떻게 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627632"/>
            <a:ext cx="4572000" cy="1353312"/>
          </a:xfrm>
          <a:prstGeom prst="rect">
            <a:avLst/>
          </a:prstGeom>
          <a:noFill/>
        </p:spPr>
        <p:txBody>
          <a:bodyPr wrap="square" lIns="76200" rIns="76200" tIns="50800" bIns="25400" anchor="t">
            <a:no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181F26"/>
                </a:solidFill>
                <a:latin typeface="Apple SD Gothic Neo"/>
              </a:rPr>
              <a:t>• MuJoCo라면 density, viscosity, fluidshape=ellipsoid, fluidcoef로 built-in fluid model을 사용하는 것이 정석</a:t>
            </a:r>
            <a:endParaRPr sz="1400" b="0" i="0">
              <a:latin typeface="Apple SD Gothic Neo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181F26"/>
                </a:solidFill>
                <a:latin typeface="Apple SD Gothic Neo"/>
              </a:rPr>
              <a:t>• Gazebo라면 보통 수중 plugin이나 hydrodynamics plugin 같은 기성 플러그인 구조를 사용</a:t>
            </a:r>
            <a:endParaRPr sz="1400" b="0" i="0">
              <a:latin typeface="Apple SD Gothic Neo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3703320"/>
            <a:ext cx="5074920" cy="228600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3803904"/>
            <a:ext cx="47457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F567A"/>
                </a:solidFill>
                <a:latin typeface="Apple SD Gothic Neo"/>
              </a:rPr>
              <a:t>이번 프로젝트는 어떻게 커스텀했는가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069080"/>
            <a:ext cx="4572000" cy="1572768"/>
          </a:xfrm>
          <a:prstGeom prst="rect">
            <a:avLst/>
          </a:prstGeom>
          <a:noFill/>
        </p:spPr>
        <p:txBody>
          <a:bodyPr wrap="square" lIns="76200" rIns="76200" tIns="50800" bIns="25400" anchor="t">
            <a:no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181F26"/>
                </a:solidFill>
                <a:latin typeface="Apple SD Gothic Neo"/>
              </a:rPr>
              <a:t>• MuJoCo는 rigid-body solver로만 사용</a:t>
            </a:r>
            <a:endParaRPr sz="1400" b="0" i="0">
              <a:latin typeface="Apple SD Gothic Neo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181F26"/>
                </a:solidFill>
                <a:latin typeface="Apple SD Gothic Neo"/>
              </a:rPr>
              <a:t>• Python runtime이 수중 힘과 토크를 계산</a:t>
            </a:r>
            <a:endParaRPr sz="1400" b="0" i="0">
              <a:latin typeface="Apple SD Gothic Neo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181F26"/>
                </a:solidFill>
                <a:latin typeface="Apple SD Gothic Neo"/>
              </a:rPr>
              <a:t>• 계산된 hydrodynamic wrench를 xfrc_applied로 주입</a:t>
            </a:r>
            <a:endParaRPr sz="1400" b="0" i="0">
              <a:latin typeface="Apple SD Gothic Neo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181F26"/>
                </a:solidFill>
                <a:latin typeface="Apple SD Gothic Neo"/>
              </a:rPr>
              <a:t>• 최근에는 equivalent ellipsoid 기반 baseline coefficient도 생성</a:t>
            </a:r>
            <a:endParaRPr sz="1400" b="0" i="0">
              <a:latin typeface="Apple SD Gothic Neo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943600" y="1234440"/>
            <a:ext cx="5577840" cy="475488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08192" y="1335024"/>
            <a:ext cx="524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F567A"/>
                </a:solidFill>
                <a:latin typeface="Apple SD Gothic Neo"/>
              </a:rPr>
              <a:t>왜 이렇게 커스텀했는가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609344"/>
            <a:ext cx="5074920" cy="1737360"/>
          </a:xfrm>
          <a:prstGeom prst="rect">
            <a:avLst/>
          </a:prstGeom>
          <a:noFill/>
        </p:spPr>
        <p:txBody>
          <a:bodyPr wrap="square" lIns="76200" rIns="76200" tIns="50800" bIns="25400" anchor="t">
            <a:no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181F26"/>
                </a:solidFill>
                <a:latin typeface="Apple SD Gothic Neo"/>
              </a:rPr>
              <a:t>• 제어 응답에 중요한 added mass, restoring torque, quadratic damping, thruster asymmetry를 직접 넣기 위해</a:t>
            </a:r>
            <a:endParaRPr sz="1400" b="0" i="0">
              <a:latin typeface="Apple SD Gothic Neo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181F26"/>
                </a:solidFill>
                <a:latin typeface="Apple SD Gothic Neo"/>
              </a:rPr>
              <a:t>• 블랙박스 plugin이 아니라 항 하나하나의 물리적 의미와 응답 변화를 직접 해석하기 위해</a:t>
            </a:r>
            <a:endParaRPr sz="1400" b="0" i="0">
              <a:latin typeface="Apple SD Gothic Neo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181F26"/>
                </a:solidFill>
                <a:latin typeface="Apple SD Gothic Neo"/>
              </a:rPr>
              <a:t>• ArduSub/ROS2와 연결된 closed-loop testbed를 만들기 위해</a:t>
            </a:r>
            <a:endParaRPr sz="1400" b="0" i="0">
              <a:latin typeface="Apple SD Gothic Neo"/>
            </a:endParaRPr>
          </a:p>
        </p:txBody>
      </p:sp>
      <p:pic>
        <p:nvPicPr>
          <p:cNvPr id="13" name="Picture 12" descr="sim_real_hydrodynamic_coef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3474720"/>
            <a:ext cx="5074920" cy="26520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4360" y="6437376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96572"/>
                </a:solidFill>
                <a:latin typeface="Apple SD Gothic Neo"/>
              </a:rPr>
              <a:t>Slide 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583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300" b="1" i="0">
                <a:solidFill>
                  <a:srgbClr val="181F26"/>
                </a:solidFill>
                <a:latin typeface="Apple SD Gothic Neo"/>
              </a:rPr>
              <a:t>sim2real gap을 줄이기 위해 추가한 물리 항</a:t>
            </a:r>
            <a:endParaRPr sz="2300" b="1" i="0">
              <a:latin typeface="Apple SD Gothic Ne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 i="0">
                <a:solidFill>
                  <a:srgbClr val="596572"/>
                </a:solidFill>
                <a:latin typeface="Apple SD Gothic Neo"/>
              </a:rPr>
              <a:t>수중 물리와 추진기 모델을 실제 응답 쪽으로 보정</a:t>
            </a:r>
            <a:endParaRPr sz="1000" b="0" i="0">
              <a:latin typeface="Apple SD Gothic Neo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58368" y="1234440"/>
            <a:ext cx="4709160" cy="525780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35024"/>
            <a:ext cx="43799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F567A"/>
                </a:solidFill>
                <a:latin typeface="Apple SD Gothic Neo"/>
              </a:rPr>
              <a:t>추가 및 강화한 항목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609344"/>
            <a:ext cx="4251960" cy="4526280"/>
          </a:xfrm>
          <a:prstGeom prst="rect">
            <a:avLst/>
          </a:prstGeom>
          <a:noFill/>
        </p:spPr>
        <p:txBody>
          <a:bodyPr wrap="square" lIns="76200" rIns="76200" tIns="50800" bIns="25400" anchor="t">
            <a:no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81F26"/>
                </a:solidFill>
                <a:latin typeface="Apple SD Gothic Neo"/>
              </a:rPr>
              <a:t>• CoB restoring torque로 roll/pitch 복원 특성 반영</a:t>
            </a:r>
            <a:endParaRPr sz="1500" b="0" i="0">
              <a:latin typeface="Apple SD Gothic Neo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81F26"/>
                </a:solidFill>
                <a:latin typeface="Apple SD Gothic Neo"/>
              </a:rPr>
              <a:t>• Added mass, added-mass Coriolis, quadratic damping 추가</a:t>
            </a:r>
            <a:endParaRPr sz="1500" b="0" i="0">
              <a:latin typeface="Apple SD Gothic Neo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81F26"/>
                </a:solidFill>
                <a:latin typeface="Apple SD Gothic Neo"/>
              </a:rPr>
              <a:t>• Relative-current drag로 물에 대한 상대속도 기반 힘 계산</a:t>
            </a:r>
            <a:endParaRPr sz="1500" b="0" i="0">
              <a:latin typeface="Apple SD Gothic Neo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81F26"/>
                </a:solidFill>
                <a:latin typeface="Apple SD Gothic Neo"/>
              </a:rPr>
              <a:t>• T200 공개 성능표 기반 비선형 thrust curve 사용</a:t>
            </a:r>
            <a:endParaRPr sz="1500" b="0" i="0">
              <a:latin typeface="Apple SD Gothic Neo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81F26"/>
                </a:solidFill>
                <a:latin typeface="Apple SD Gothic Neo"/>
              </a:rPr>
              <a:t>• Reverse asymmetry, thruster별 gain calibration 반영</a:t>
            </a:r>
            <a:endParaRPr sz="1500" b="0" i="0">
              <a:latin typeface="Apple SD Gothic Neo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81F26"/>
                </a:solidFill>
                <a:latin typeface="Apple SD Gothic Neo"/>
              </a:rPr>
              <a:t>• Equivalent ellipsoid에서 baseline coefficient 생성</a:t>
            </a:r>
            <a:endParaRPr sz="1500" b="0" i="0">
              <a:latin typeface="Apple SD Gothic Neo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532120" y="1234440"/>
            <a:ext cx="5989320" cy="246888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96712" y="1335024"/>
            <a:ext cx="56601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F567A"/>
                </a:solidFill>
                <a:latin typeface="Apple SD Gothic Neo"/>
              </a:rPr>
              <a:t>T200 thrust curve</a:t>
            </a:r>
          </a:p>
        </p:txBody>
      </p:sp>
      <p:pic>
        <p:nvPicPr>
          <p:cNvPr id="9" name="Picture 8" descr="thruster_curv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581912"/>
            <a:ext cx="5623560" cy="348063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532120" y="3913632"/>
            <a:ext cx="5989320" cy="2578608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96712" y="4014216"/>
            <a:ext cx="56601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F567A"/>
                </a:solidFill>
                <a:latin typeface="Apple SD Gothic Neo"/>
              </a:rPr>
              <a:t>Thruster calibration</a:t>
            </a:r>
          </a:p>
        </p:txBody>
      </p:sp>
      <p:pic>
        <p:nvPicPr>
          <p:cNvPr id="12" name="Picture 11" descr="thruster_gain_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4242816"/>
            <a:ext cx="5623560" cy="301146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" y="6437376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96572"/>
                </a:solidFill>
                <a:latin typeface="Apple SD Gothic Neo"/>
              </a:rPr>
              <a:t>Slide 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583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300" b="1" i="0">
                <a:solidFill>
                  <a:srgbClr val="181F26"/>
                </a:solidFill>
                <a:latin typeface="Apple SD Gothic Neo"/>
              </a:rPr>
              <a:t>실제 ROS bag 기반 검증 결과</a:t>
            </a:r>
            <a:endParaRPr sz="2300" b="1" i="0">
              <a:latin typeface="Apple SD Gothic Ne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 i="0">
                <a:solidFill>
                  <a:srgbClr val="596572"/>
                </a:solidFill>
                <a:latin typeface="Apple SD Gothic Neo"/>
              </a:rPr>
              <a:t>mode 전환과 RC step 입력에 대한 실제 응답 측정</a:t>
            </a:r>
            <a:endParaRPr sz="1000" b="0" i="0">
              <a:latin typeface="Apple SD Gothic Neo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58368" y="1234440"/>
            <a:ext cx="7452360" cy="5230368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35024"/>
            <a:ext cx="71231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F567A"/>
                </a:solidFill>
                <a:latin typeface="Apple SD Gothic Neo"/>
              </a:rPr>
              <a:t>Measured step response</a:t>
            </a:r>
          </a:p>
        </p:txBody>
      </p:sp>
      <p:pic>
        <p:nvPicPr>
          <p:cNvPr id="6" name="Picture 5" descr="actual_mavros_step_respon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572768"/>
            <a:ext cx="7040880" cy="728636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234440"/>
            <a:ext cx="3291840" cy="324612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94192" y="1335024"/>
            <a:ext cx="29626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F567A"/>
                </a:solidFill>
                <a:latin typeface="Apple SD Gothic Neo"/>
              </a:rPr>
              <a:t>대표 수치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0768" y="1572768"/>
            <a:ext cx="2880360" cy="2606040"/>
          </a:xfrm>
          <a:prstGeom prst="rect">
            <a:avLst/>
          </a:prstGeom>
          <a:noFill/>
        </p:spPr>
        <p:txBody>
          <a:bodyPr wrap="square" lIns="50800" rIns="50800" tIns="38100" bIns="25400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81F26"/>
                </a:solidFill>
                <a:latin typeface="Apple SD Gothic Neo"/>
              </a:rPr>
              <a:t>MANUAL forward</a:t>
            </a:r>
            <a:endParaRPr sz="1400" b="1" i="0">
              <a:latin typeface="Apple SD Gothic Neo"/>
            </a:endParaRP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81F26"/>
                </a:solidFill>
                <a:latin typeface="Apple SD Gothic Neo"/>
              </a:rPr>
              <a:t>mean 0.134 m/s</a:t>
            </a:r>
            <a:endParaRPr sz="1400" b="1" i="0">
              <a:latin typeface="Apple SD Gothic Neo"/>
            </a:endParaRP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81F26"/>
                </a:solidFill>
                <a:latin typeface="Apple SD Gothic Neo"/>
              </a:rPr>
              <a:t>max 0.161 m/s</a:t>
            </a:r>
            <a:endParaRPr sz="1400" b="1" i="0">
              <a:latin typeface="Apple SD Gothic Neo"/>
            </a:endParaRP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81F26"/>
                </a:solidFill>
                <a:latin typeface="Apple SD Gothic Neo"/>
              </a:rPr>
              <a:t/>
            </a:r>
            <a:endParaRPr sz="1400" b="1" i="0">
              <a:latin typeface="Apple SD Gothic Neo"/>
            </a:endParaRP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81F26"/>
                </a:solidFill>
                <a:latin typeface="Apple SD Gothic Neo"/>
              </a:rPr>
              <a:t>STABILIZE forward</a:t>
            </a:r>
            <a:endParaRPr sz="1400" b="1" i="0">
              <a:latin typeface="Apple SD Gothic Neo"/>
            </a:endParaRP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81F26"/>
                </a:solidFill>
                <a:latin typeface="Apple SD Gothic Neo"/>
              </a:rPr>
              <a:t>mean 0.128 m/s</a:t>
            </a:r>
            <a:endParaRPr sz="1400" b="1" i="0">
              <a:latin typeface="Apple SD Gothic Neo"/>
            </a:endParaRP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81F26"/>
                </a:solidFill>
                <a:latin typeface="Apple SD Gothic Neo"/>
              </a:rPr>
              <a:t>max 0.163 m/s</a:t>
            </a:r>
            <a:endParaRPr sz="1400" b="1" i="0">
              <a:latin typeface="Apple SD Gothic Neo"/>
            </a:endParaRP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81F26"/>
                </a:solidFill>
                <a:latin typeface="Apple SD Gothic Neo"/>
              </a:rPr>
              <a:t/>
            </a:r>
            <a:endParaRPr sz="1400" b="1" i="0">
              <a:latin typeface="Apple SD Gothic Neo"/>
            </a:endParaRP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81F26"/>
                </a:solidFill>
                <a:latin typeface="Apple SD Gothic Neo"/>
              </a:rPr>
              <a:t>ALT_HOLD forward</a:t>
            </a:r>
            <a:endParaRPr sz="1400" b="1" i="0">
              <a:latin typeface="Apple SD Gothic Neo"/>
            </a:endParaRP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81F26"/>
                </a:solidFill>
                <a:latin typeface="Apple SD Gothic Neo"/>
              </a:rPr>
              <a:t>mean 0.137 m/s</a:t>
            </a:r>
            <a:endParaRPr sz="1400" b="1" i="0">
              <a:latin typeface="Apple SD Gothic Neo"/>
            </a:endParaRP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81F26"/>
                </a:solidFill>
                <a:latin typeface="Apple SD Gothic Neo"/>
              </a:rPr>
              <a:t>max 0.163 m/s</a:t>
            </a:r>
            <a:endParaRPr sz="1400" b="1" i="0">
              <a:latin typeface="Apple SD Gothic Neo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9600" y="4617720"/>
            <a:ext cx="3291840" cy="1847088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4718304"/>
            <a:ext cx="29626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F567A"/>
                </a:solidFill>
                <a:latin typeface="Apple SD Gothic Neo"/>
              </a:rPr>
              <a:t>Yaw / Heave / 해석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8" y="4919472"/>
            <a:ext cx="2852928" cy="1261872"/>
          </a:xfrm>
          <a:prstGeom prst="rect">
            <a:avLst/>
          </a:prstGeom>
          <a:noFill/>
        </p:spPr>
        <p:txBody>
          <a:bodyPr wrap="square" lIns="50800" rIns="50800" tIns="38100" bIns="25400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81F26"/>
                </a:solidFill>
                <a:latin typeface="Apple SD Gothic Neo"/>
              </a:rPr>
              <a:t>MANUAL yaw</a:t>
            </a:r>
            <a:endParaRPr sz="1200" b="0" i="0">
              <a:latin typeface="Apple SD Gothic Neo"/>
            </a:endParaRP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81F26"/>
                </a:solidFill>
                <a:latin typeface="Apple SD Gothic Neo"/>
              </a:rPr>
              <a:t>mean -0.468 rad/s</a:t>
            </a:r>
            <a:endParaRPr sz="1200" b="0" i="0">
              <a:latin typeface="Apple SD Gothic Neo"/>
            </a:endParaRP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81F26"/>
                </a:solidFill>
                <a:latin typeface="Apple SD Gothic Neo"/>
              </a:rPr>
              <a:t>final -0.568 rad/s</a:t>
            </a:r>
            <a:endParaRPr sz="1200" b="0" i="0">
              <a:latin typeface="Apple SD Gothic Neo"/>
            </a:endParaRP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81F26"/>
                </a:solidFill>
                <a:latin typeface="Apple SD Gothic Neo"/>
              </a:rPr>
              <a:t/>
            </a:r>
            <a:endParaRPr sz="1200" b="0" i="0">
              <a:latin typeface="Apple SD Gothic Neo"/>
            </a:endParaRP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81F26"/>
                </a:solidFill>
                <a:latin typeface="Apple SD Gothic Neo"/>
              </a:rPr>
              <a:t>ALT_HOLD heave</a:t>
            </a:r>
            <a:endParaRPr sz="1200" b="0" i="0">
              <a:latin typeface="Apple SD Gothic Neo"/>
            </a:endParaRP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81F26"/>
                </a:solidFill>
                <a:latin typeface="Apple SD Gothic Neo"/>
              </a:rPr>
              <a:t>depth Δ -0.068 m</a:t>
            </a:r>
            <a:endParaRPr sz="1200" b="0" i="0">
              <a:latin typeface="Apple SD Gothic Neo"/>
            </a:endParaRP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81F26"/>
                </a:solidFill>
                <a:latin typeface="Apple SD Gothic Neo"/>
              </a:rPr>
              <a:t/>
            </a:r>
            <a:endParaRPr sz="1200" b="0" i="0">
              <a:latin typeface="Apple SD Gothic Neo"/>
            </a:endParaRP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81F26"/>
                </a:solidFill>
                <a:latin typeface="Apple SD Gothic Neo"/>
              </a:rPr>
              <a:t>STABILIZE와 ALT_HOLD에서도 전진 응답이 유지됨</a:t>
            </a:r>
            <a:endParaRPr sz="1200" b="0" i="0">
              <a:latin typeface="Apple SD Gothic Ne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6437376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96572"/>
                </a:solidFill>
                <a:latin typeface="Apple SD Gothic Neo"/>
              </a:rPr>
              <a:t>Slide 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583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300" b="1" i="0">
                <a:solidFill>
                  <a:srgbClr val="181F26"/>
                </a:solidFill>
                <a:latin typeface="Apple SD Gothic Neo"/>
              </a:rPr>
              <a:t>이 접근의 이점과 다음 단계</a:t>
            </a:r>
            <a:endParaRPr sz="2300" b="1" i="0">
              <a:latin typeface="Apple SD Gothic Ne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 i="0">
                <a:solidFill>
                  <a:srgbClr val="596572"/>
                </a:solidFill>
                <a:latin typeface="Apple SD Gothic Neo"/>
              </a:rPr>
              <a:t>커스텀 물리 계층을 올렸을 때 얻는 연구적 의미</a:t>
            </a:r>
            <a:endParaRPr sz="1000" b="0" i="0">
              <a:latin typeface="Apple SD Gothic Neo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58368" y="1234440"/>
            <a:ext cx="4709160" cy="525780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35024"/>
            <a:ext cx="43799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F567A"/>
                </a:solidFill>
                <a:latin typeface="Apple SD Gothic Neo"/>
              </a:rPr>
              <a:t>이를 통해 얻을 수 있는 이점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627632"/>
            <a:ext cx="4206240" cy="4526280"/>
          </a:xfrm>
          <a:prstGeom prst="rect">
            <a:avLst/>
          </a:prstGeom>
          <a:noFill/>
        </p:spPr>
        <p:txBody>
          <a:bodyPr wrap="square" lIns="76200" rIns="76200" tIns="50800" bIns="25400" anchor="t">
            <a:no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81F26"/>
                </a:solidFill>
                <a:latin typeface="Apple SD Gothic Neo"/>
              </a:rPr>
              <a:t>• 해석 가능성: 어떤 물리 항이 어떤 응답 변화를 만드는지 설명 가능</a:t>
            </a:r>
            <a:endParaRPr sz="1500" b="0" i="0">
              <a:latin typeface="Apple SD Gothic Neo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81F26"/>
                </a:solidFill>
                <a:latin typeface="Apple SD Gothic Neo"/>
              </a:rPr>
              <a:t>• 확장성: 형상이 바뀌어도 ellipsoid baseline으로 새 tuning의 출발점 생성 가능</a:t>
            </a:r>
            <a:endParaRPr sz="1500" b="0" i="0">
              <a:latin typeface="Apple SD Gothic Neo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81F26"/>
                </a:solidFill>
                <a:latin typeface="Apple SD Gothic Neo"/>
              </a:rPr>
              <a:t>• 검증 가능성: ROS mode 전환과 RC 입력을 실제 bag으로 기록해 closed-loop 검증 가능</a:t>
            </a:r>
            <a:endParaRPr sz="1500" b="0" i="0">
              <a:latin typeface="Apple SD Gothic Neo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81F26"/>
                </a:solidFill>
                <a:latin typeface="Apple SD Gothic Neo"/>
              </a:rPr>
              <a:t>• sim2real 개선성: thrust curve, damping, added mass, gain을 항목별로 식별 가능</a:t>
            </a:r>
            <a:endParaRPr sz="1500" b="0" i="0">
              <a:latin typeface="Apple SD Gothic Neo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0" y="1234440"/>
            <a:ext cx="6035040" cy="246888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50992" y="1335024"/>
            <a:ext cx="57058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F567A"/>
                </a:solidFill>
                <a:latin typeface="Apple SD Gothic Neo"/>
              </a:rPr>
              <a:t>Mode별 전진 응답</a:t>
            </a:r>
          </a:p>
        </p:txBody>
      </p:sp>
      <p:pic>
        <p:nvPicPr>
          <p:cNvPr id="9" name="Picture 8" descr="actual_mavros_mod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1572768"/>
            <a:ext cx="5623560" cy="20943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0" y="3913632"/>
            <a:ext cx="2697480" cy="2578608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50992" y="4014216"/>
            <a:ext cx="2368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F567A"/>
                </a:solidFill>
                <a:latin typeface="Apple SD Gothic Neo"/>
              </a:rPr>
              <a:t>XY trajectory</a:t>
            </a:r>
          </a:p>
        </p:txBody>
      </p:sp>
      <p:pic>
        <p:nvPicPr>
          <p:cNvPr id="12" name="Picture 11" descr="actual_mavros_xy_tr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4206240"/>
            <a:ext cx="2359152" cy="216452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412480" y="3913632"/>
            <a:ext cx="3108960" cy="2578608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4014216"/>
            <a:ext cx="27797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F567A"/>
                </a:solidFill>
                <a:latin typeface="Apple SD Gothic Neo"/>
              </a:rPr>
              <a:t>다음 단계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3648" y="4224528"/>
            <a:ext cx="2697480" cy="1234440"/>
          </a:xfrm>
          <a:prstGeom prst="rect">
            <a:avLst/>
          </a:prstGeom>
          <a:noFill/>
        </p:spPr>
        <p:txBody>
          <a:bodyPr wrap="square" lIns="50800" rIns="50800" tIns="38100" bIns="25400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81F26"/>
                </a:solidFill>
                <a:latin typeface="Apple SD Gothic Neo"/>
              </a:rPr>
              <a:t>실기 velocity / yaw / depth 로그와</a:t>
            </a:r>
            <a:endParaRPr sz="1400" b="0" i="0">
              <a:latin typeface="Apple SD Gothic Neo"/>
            </a:endParaRP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81F26"/>
                </a:solidFill>
                <a:latin typeface="Apple SD Gothic Neo"/>
              </a:rPr>
              <a:t>현재 simulator 응답을 직접 비교해</a:t>
            </a:r>
            <a:endParaRPr sz="1400" b="0" i="0">
              <a:latin typeface="Apple SD Gothic Neo"/>
            </a:endParaRP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81F26"/>
                </a:solidFill>
                <a:latin typeface="Apple SD Gothic Neo"/>
              </a:rPr>
              <a:t>coefficient identification을 진행하고,</a:t>
            </a:r>
            <a:endParaRPr sz="1400" b="0" i="0">
              <a:latin typeface="Apple SD Gothic Neo"/>
            </a:endParaRP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81F26"/>
                </a:solidFill>
                <a:latin typeface="Apple SD Gothic Neo"/>
              </a:rPr>
              <a:t>current / turbulence / wave 모델을 확장할 계획입니다.</a:t>
            </a:r>
            <a:endParaRPr sz="1400" b="0" i="0">
              <a:latin typeface="Apple SD Gothic Neo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13648" y="5486400"/>
            <a:ext cx="2697480" cy="566928"/>
          </a:xfrm>
          <a:prstGeom prst="rect">
            <a:avLst/>
          </a:prstGeom>
          <a:noFill/>
        </p:spPr>
        <p:txBody>
          <a:bodyPr wrap="square" lIns="50800" rIns="50800" tIns="38100" bIns="25400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96572"/>
                </a:solidFill>
                <a:latin typeface="Apple SD Gothic Neo"/>
              </a:rPr>
              <a:t>ALT_HOLD heave</a:t>
            </a:r>
            <a:endParaRPr sz="1100" b="0" i="0">
              <a:latin typeface="Apple SD Gothic Neo"/>
            </a:endParaRP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96572"/>
                </a:solidFill>
                <a:latin typeface="Apple SD Gothic Neo"/>
              </a:rPr>
              <a:t>depth Δ -0.068 m</a:t>
            </a:r>
            <a:endParaRPr sz="1100" b="0" i="0">
              <a:latin typeface="Apple SD Gothic Neo"/>
            </a:endParaRP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96572"/>
                </a:solidFill>
                <a:latin typeface="Apple SD Gothic Neo"/>
              </a:rPr>
              <a:t>STABILIZE 자세</a:t>
            </a:r>
            <a:endParaRPr sz="1100" b="0" i="0">
              <a:latin typeface="Apple SD Gothic Neo"/>
            </a:endParaRP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96572"/>
                </a:solidFill>
                <a:latin typeface="Apple SD Gothic Neo"/>
              </a:rPr>
              <a:t>roll 0.95 deg</a:t>
            </a:r>
            <a:endParaRPr sz="1100" b="0" i="0">
              <a:latin typeface="Apple SD Gothic Neo"/>
            </a:endParaRP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96572"/>
                </a:solidFill>
                <a:latin typeface="Apple SD Gothic Neo"/>
              </a:rPr>
              <a:t>pitch 7.99 deg</a:t>
            </a:r>
            <a:endParaRPr sz="1100" b="0" i="0">
              <a:latin typeface="Apple SD Gothic Neo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360" y="6437376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96572"/>
                </a:solidFill>
                <a:latin typeface="Apple SD Gothic Neo"/>
              </a:rPr>
              <a:t>Slide 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